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showGuides="1">
      <p:cViewPr>
        <p:scale>
          <a:sx n="75" d="100"/>
          <a:sy n="75" d="100"/>
        </p:scale>
        <p:origin x="2146" y="-202"/>
      </p:cViewPr>
      <p:guideLst>
        <p:guide orient="horz" pos="3126"/>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dirty="0"/>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5511AC-980B-485A-851E-DBD0B8F4CBAD}"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95511AC-980B-485A-851E-DBD0B8F4CBAD}"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95511AC-980B-485A-851E-DBD0B8F4CBAD}" type="datetimeFigureOut">
              <a:rPr lang="en-US" smtClean="0"/>
              <a:t>6/4/2026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6A2BFA2-7CEB-4D76-9663-917F13DE4B1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p:cNvGrpSpPr/>
          <p:nvPr/>
        </p:nvGrpSpPr>
        <p:grpSpPr>
          <a:xfrm>
            <a:off x="6009740" y="1966271"/>
            <a:ext cx="683266" cy="212921"/>
            <a:chOff x="6071533" y="2181217"/>
            <a:chExt cx="683266" cy="215444"/>
          </a:xfrm>
        </p:grpSpPr>
        <p:sp>
          <p:nvSpPr>
            <p:cNvPr id="43" name="TextBox 42"/>
            <p:cNvSpPr txBox="1"/>
            <p:nvPr/>
          </p:nvSpPr>
          <p:spPr>
            <a:xfrm>
              <a:off x="6105590" y="2181217"/>
              <a:ext cx="649209" cy="215444"/>
            </a:xfrm>
            <a:prstGeom prst="rect">
              <a:avLst/>
            </a:prstGeom>
            <a:noFill/>
          </p:spPr>
          <p:txBody>
            <a:bodyPr wrap="square">
              <a:spAutoFit/>
            </a:bodyPr>
            <a:lstStyle/>
            <a:p>
              <a:pPr algn="ctr"/>
              <a:r>
                <a:rPr lang="en-US" sz="800" b="1" dirty="0" err="1">
                  <a:latin typeface="Arial Hebrew Scholar" pitchFamily="2" charset="-79"/>
                  <a:cs typeface="Arial Hebrew Scholar" pitchFamily="2" charset="-79"/>
                </a:rPr>
                <a:t>Github</a:t>
              </a:r>
              <a:endParaRPr lang="en-US" sz="800" b="1" dirty="0">
                <a:latin typeface="Arial Hebrew Scholar" pitchFamily="2" charset="-79"/>
                <a:cs typeface="Arial Hebrew Scholar" pitchFamily="2" charset="-79"/>
              </a:endParaRPr>
            </a:p>
          </p:txBody>
        </p:sp>
        <p:pic>
          <p:nvPicPr>
            <p:cNvPr id="1028" name="Picture 4" descr="Github Logo - Free social media ic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6" name="Table 35"/>
          <p:cNvGraphicFramePr>
            <a:graphicFrameLocks noGrp="1"/>
          </p:cNvGraphicFramePr>
          <p:nvPr>
            <p:extLst>
              <p:ext uri="{D42A27DB-BD31-4B8C-83A1-F6EECF244321}">
                <p14:modId xmlns:p14="http://schemas.microsoft.com/office/powerpoint/2010/main" val="1998787543"/>
              </p:ext>
            </p:extLst>
          </p:nvPr>
        </p:nvGraphicFramePr>
        <p:xfrm>
          <a:off x="71979" y="2356347"/>
          <a:ext cx="3890421" cy="1334250"/>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20000"/>
                    </a:ext>
                  </a:extLst>
                </a:gridCol>
              </a:tblGrid>
              <a:tr h="22355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a:solidFill>
                            <a:schemeClr val="bg1"/>
                          </a:solidFill>
                          <a:latin typeface="Times New Roman" panose="02020603050405020304" pitchFamily="18" charset="0"/>
                          <a:cs typeface="Times New Roman" panose="02020603050405020304" pitchFamily="18" charset="0"/>
                        </a:rPr>
                        <a:t>Giới thiệu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10000"/>
                  </a:ext>
                </a:extLst>
              </a:tr>
              <a:tr h="1090410">
                <a:tc>
                  <a:txBody>
                    <a:bodyPr/>
                    <a:lstStyle/>
                    <a:p>
                      <a:r>
                        <a:rPr lang="vi-VN" sz="1000" b="0" dirty="0">
                          <a:latin typeface="+mj-lt"/>
                        </a:rPr>
                        <a:t>Hệ thống nhận diện hành vi bất thường trong camera giám sát sử dụng AI kết hợp Blockchain là một ứng dụng hỗ trợ phân tích video giám sát tự động. Người dùng có thể tải video lên giao diện web, sau đó hệ thống sử dụng AI để nhận diện người, vẽ khung xương người và phát hiện các hành vi bất thường như chạy, té ngã hoặc nghi ngờ đánh nhau.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nvGraphicFramePr>
        <p:xfrm>
          <a:off x="4027952" y="2360409"/>
          <a:ext cx="2789416" cy="2289637"/>
        </p:xfrm>
        <a:graphic>
          <a:graphicData uri="http://schemas.openxmlformats.org/drawingml/2006/table">
            <a:tbl>
              <a:tblPr firstRow="1" bandRow="1">
                <a:tableStyleId>{5C22544A-7EE6-4342-B048-85BDC9FD1C3A}</a:tableStyleId>
              </a:tblPr>
              <a:tblGrid>
                <a:gridCol w="2789416">
                  <a:extLst>
                    <a:ext uri="{9D8B030D-6E8A-4147-A177-3AD203B41FA5}">
                      <a16:colId xmlns:a16="http://schemas.microsoft.com/office/drawing/2014/main" val="20000"/>
                    </a:ext>
                  </a:extLst>
                </a:gridCol>
              </a:tblGrid>
              <a:tr h="25244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a:solidFill>
                            <a:schemeClr val="bg1"/>
                          </a:solidFill>
                          <a:latin typeface="Arial" panose="020B0604020202020204" pitchFamily="34" charset="0"/>
                          <a:cs typeface="Arial" panose="020B0604020202020204" pitchFamily="34" charset="0"/>
                        </a:rPr>
                        <a:t>Kiến trúc hệ thống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10000"/>
                  </a:ext>
                </a:extLst>
              </a:tr>
              <a:tr h="203719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70" name="Group 69"/>
          <p:cNvGrpSpPr/>
          <p:nvPr/>
        </p:nvGrpSpPr>
        <p:grpSpPr>
          <a:xfrm>
            <a:off x="-40633" y="-39866"/>
            <a:ext cx="6898633" cy="2369377"/>
            <a:chOff x="-40633" y="-40063"/>
            <a:chExt cx="6898633" cy="2369377"/>
          </a:xfrm>
        </p:grpSpPr>
        <p:grpSp>
          <p:nvGrpSpPr>
            <p:cNvPr id="27" name="Group 26"/>
            <p:cNvGrpSpPr/>
            <p:nvPr/>
          </p:nvGrpSpPr>
          <p:grpSpPr>
            <a:xfrm>
              <a:off x="0" y="-40063"/>
              <a:ext cx="6858000" cy="1149907"/>
              <a:chOff x="0" y="-40063"/>
              <a:chExt cx="6858000" cy="1149907"/>
            </a:xfrm>
          </p:grpSpPr>
          <p:pic>
            <p:nvPicPr>
              <p:cNvPr id="39" name="Picture 38"/>
              <p:cNvPicPr>
                <a:picLocks noChangeAspect="1"/>
              </p:cNvPicPr>
              <p:nvPr/>
            </p:nvPicPr>
            <p:blipFill>
              <a:blip r:embed="rId3"/>
              <a:stretch>
                <a:fillRect/>
              </a:stretch>
            </p:blipFill>
            <p:spPr>
              <a:xfrm>
                <a:off x="0" y="-1275"/>
                <a:ext cx="6858000" cy="1111119"/>
              </a:xfrm>
              <a:prstGeom prst="rect">
                <a:avLst/>
              </a:prstGeom>
            </p:spPr>
          </p:pic>
          <p:sp>
            <p:nvSpPr>
              <p:cNvPr id="40" name="TextBox 39"/>
              <p:cNvSpPr txBox="1"/>
              <p:nvPr/>
            </p:nvSpPr>
            <p:spPr>
              <a:xfrm>
                <a:off x="2370087" y="-40063"/>
                <a:ext cx="2129108" cy="400110"/>
              </a:xfrm>
              <a:prstGeom prst="rect">
                <a:avLst/>
              </a:prstGeom>
              <a:noFill/>
            </p:spPr>
            <p:txBody>
              <a:bodyPr wrap="none" rtlCol="0">
                <a:spAutoFit/>
              </a:bodyPr>
              <a:lstStyle/>
              <a:p>
                <a:pPr algn="ctr"/>
                <a:r>
                  <a:rPr lang="en-US" sz="1000" b="1">
                    <a:solidFill>
                      <a:schemeClr val="bg1"/>
                    </a:solidFill>
                    <a:latin typeface="Arial Hebrew Scholar" pitchFamily="2" charset="-79"/>
                    <a:cs typeface="Arial Hebrew Scholar" pitchFamily="2" charset="-79"/>
                  </a:rPr>
                  <a:t>TRƯỜNG ĐẠI HỌC ĐẠI NAM</a:t>
                </a:r>
              </a:p>
              <a:p>
                <a:pPr algn="ctr"/>
                <a:r>
                  <a:rPr lang="en-US" sz="1000" b="1">
                    <a:solidFill>
                      <a:schemeClr val="bg1"/>
                    </a:solidFill>
                    <a:latin typeface="Arial Hebrew Scholar" pitchFamily="2" charset="-79"/>
                    <a:cs typeface="Arial Hebrew Scholar" pitchFamily="2" charset="-79"/>
                  </a:rPr>
                  <a:t>KHOA CÔNG NGHỆ THÔNG TIN</a:t>
                </a:r>
              </a:p>
            </p:txBody>
          </p:sp>
        </p:grpSp>
        <p:grpSp>
          <p:nvGrpSpPr>
            <p:cNvPr id="65" name="Group 64"/>
            <p:cNvGrpSpPr/>
            <p:nvPr/>
          </p:nvGrpSpPr>
          <p:grpSpPr>
            <a:xfrm>
              <a:off x="-40633" y="1132782"/>
              <a:ext cx="6858000" cy="1196532"/>
              <a:chOff x="-40633" y="1132782"/>
              <a:chExt cx="6858000" cy="1196532"/>
            </a:xfrm>
          </p:grpSpPr>
          <p:sp>
            <p:nvSpPr>
              <p:cNvPr id="5" name="Title 1"/>
              <p:cNvSpPr txBox="1"/>
              <p:nvPr/>
            </p:nvSpPr>
            <p:spPr>
              <a:xfrm>
                <a:off x="993648" y="1132782"/>
                <a:ext cx="4569286" cy="329891"/>
              </a:xfrm>
              <a:prstGeom prst="rect">
                <a:avLst/>
              </a:prstGeom>
            </p:spPr>
            <p:txBody>
              <a:bodyPr vert="horz" lIns="20299" tIns="10150" rIns="20299" bIns="10150" rtlCol="0" anchor="ctr">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vi-VN" sz="1300" b="1" dirty="0">
                    <a:solidFill>
                      <a:schemeClr val="accent2"/>
                    </a:solidFill>
                    <a:latin typeface="Times New Roman" panose="02020603050405020304" pitchFamily="18" charset="0"/>
                    <a:cs typeface="Times New Roman" panose="02020603050405020304" pitchFamily="18" charset="0"/>
                  </a:rPr>
                  <a:t> </a:t>
                </a:r>
                <a:r>
                  <a:rPr lang="en-US" sz="1300" b="1" dirty="0">
                    <a:solidFill>
                      <a:schemeClr val="accent2"/>
                    </a:solidFill>
                    <a:latin typeface="Times New Roman" panose="02020603050405020304" pitchFamily="18" charset="0"/>
                    <a:cs typeface="Times New Roman" panose="02020603050405020304" pitchFamily="18" charset="0"/>
                  </a:rPr>
                  <a:t>NHẬN DIỆN HÀNH VI BẤT THƯỜNG QUA CAMERA AI VÀ KẾT HỢP VỚI BLOCKCHAIN</a:t>
                </a:r>
                <a:endParaRPr lang="en-US" sz="1300" dirty="0">
                  <a:solidFill>
                    <a:schemeClr val="accent2"/>
                  </a:solidFill>
                  <a:latin typeface="Arial Hebrew Scholar" pitchFamily="2" charset="-79"/>
                  <a:cs typeface="Arial Hebrew Scholar" pitchFamily="2" charset="-79"/>
                </a:endParaRPr>
              </a:p>
            </p:txBody>
          </p:sp>
          <p:sp>
            <p:nvSpPr>
              <p:cNvPr id="6" name="Rectangle 5"/>
              <p:cNvSpPr/>
              <p:nvPr/>
            </p:nvSpPr>
            <p:spPr>
              <a:xfrm>
                <a:off x="-40633" y="1441319"/>
                <a:ext cx="6858000" cy="1455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800" b="1" dirty="0">
                    <a:latin typeface="+mj-lt"/>
                  </a:rPr>
                  <a:t>-</a:t>
                </a:r>
                <a:r>
                  <a:rPr lang="vi-VN" sz="800" b="1" dirty="0">
                    <a:latin typeface="+mj-lt"/>
                  </a:rPr>
                  <a:t>Nguyễn Văn Nguyên</a:t>
                </a:r>
                <a:r>
                  <a:rPr lang="en-US" sz="800" b="1" dirty="0">
                    <a:latin typeface="+mj-lt"/>
                  </a:rPr>
                  <a:t>-</a:t>
                </a:r>
              </a:p>
            </p:txBody>
          </p:sp>
          <p:pic>
            <p:nvPicPr>
              <p:cNvPr id="63" name="Picture 62"/>
              <p:cNvPicPr>
                <a:picLocks noChangeAspect="1"/>
              </p:cNvPicPr>
              <p:nvPr/>
            </p:nvPicPr>
            <p:blipFill>
              <a:blip r:embed="rId4"/>
              <a:stretch>
                <a:fillRect/>
              </a:stretch>
            </p:blipFill>
            <p:spPr>
              <a:xfrm>
                <a:off x="2620895" y="1591937"/>
                <a:ext cx="1616210" cy="737377"/>
              </a:xfrm>
              <a:prstGeom prst="rect">
                <a:avLst/>
              </a:prstGeom>
            </p:spPr>
          </p:pic>
        </p:grpSp>
      </p:grpSp>
      <p:graphicFrame>
        <p:nvGraphicFramePr>
          <p:cNvPr id="73" name="Table 72"/>
          <p:cNvGraphicFramePr>
            <a:graphicFrameLocks noGrp="1"/>
          </p:cNvGraphicFramePr>
          <p:nvPr>
            <p:extLst>
              <p:ext uri="{D42A27DB-BD31-4B8C-83A1-F6EECF244321}">
                <p14:modId xmlns:p14="http://schemas.microsoft.com/office/powerpoint/2010/main" val="1800779592"/>
              </p:ext>
            </p:extLst>
          </p:nvPr>
        </p:nvGraphicFramePr>
        <p:xfrm>
          <a:off x="4027952" y="4670365"/>
          <a:ext cx="2789415" cy="1926010"/>
        </p:xfrm>
        <a:graphic>
          <a:graphicData uri="http://schemas.openxmlformats.org/drawingml/2006/table">
            <a:tbl>
              <a:tblPr firstRow="1" bandRow="1">
                <a:tableStyleId>{5C22544A-7EE6-4342-B048-85BDC9FD1C3A}</a:tableStyleId>
              </a:tblPr>
              <a:tblGrid>
                <a:gridCol w="2789415">
                  <a:extLst>
                    <a:ext uri="{9D8B030D-6E8A-4147-A177-3AD203B41FA5}">
                      <a16:colId xmlns:a16="http://schemas.microsoft.com/office/drawing/2014/main" val="20000"/>
                    </a:ext>
                  </a:extLst>
                </a:gridCol>
              </a:tblGrid>
              <a:tr h="25572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a:solidFill>
                            <a:schemeClr val="bg1"/>
                          </a:solidFill>
                          <a:latin typeface="Arial" panose="020B0604020202020204" pitchFamily="34" charset="0"/>
                          <a:cs typeface="Arial" panose="020B0604020202020204" pitchFamily="34" charset="0"/>
                        </a:rPr>
                        <a:t>Công </a:t>
                      </a:r>
                      <a:r>
                        <a:rPr lang="en-US" sz="1000" b="1" dirty="0" err="1">
                          <a:solidFill>
                            <a:schemeClr val="bg1"/>
                          </a:solidFill>
                          <a:latin typeface="Arial" panose="020B0604020202020204" pitchFamily="34" charset="0"/>
                          <a:cs typeface="Arial" panose="020B0604020202020204" pitchFamily="34" charset="0"/>
                        </a:rPr>
                        <a:t>nghệ</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sử</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10000"/>
                  </a:ext>
                </a:extLst>
              </a:tr>
              <a:tr h="1670284">
                <a:tc>
                  <a:txBody>
                    <a:bodyPr/>
                    <a:lstStyle/>
                    <a:p>
                      <a:pPr algn="just"/>
                      <a:endParaRPr lang="vi-VN" sz="900" dirty="0">
                        <a:latin typeface="Arial" panose="020B0604020202020204" pitchFamily="34" charset="0"/>
                        <a:cs typeface="Arial Hebrew Schol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82" name="Table 81"/>
          <p:cNvGraphicFramePr>
            <a:graphicFrameLocks noGrp="1"/>
          </p:cNvGraphicFramePr>
          <p:nvPr>
            <p:extLst>
              <p:ext uri="{D42A27DB-BD31-4B8C-83A1-F6EECF244321}">
                <p14:modId xmlns:p14="http://schemas.microsoft.com/office/powerpoint/2010/main" val="3966030508"/>
              </p:ext>
            </p:extLst>
          </p:nvPr>
        </p:nvGraphicFramePr>
        <p:xfrm>
          <a:off x="71978" y="3747122"/>
          <a:ext cx="3890421" cy="6055182"/>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20000"/>
                    </a:ext>
                  </a:extLst>
                </a:gridCol>
              </a:tblGrid>
              <a:tr h="122328">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a:solidFill>
                            <a:schemeClr val="bg1"/>
                          </a:solidFill>
                          <a:latin typeface="Arial" panose="020B0604020202020204" pitchFamily="34" charset="0"/>
                          <a:cs typeface="Arial" panose="020B0604020202020204" pitchFamily="34" charset="0"/>
                        </a:rPr>
                        <a:t>Giao </a:t>
                      </a:r>
                      <a:r>
                        <a:rPr lang="en-US" sz="1000" b="1" dirty="0" err="1">
                          <a:solidFill>
                            <a:schemeClr val="bg1"/>
                          </a:solidFill>
                          <a:latin typeface="Arial" panose="020B0604020202020204" pitchFamily="34" charset="0"/>
                          <a:cs typeface="Arial" panose="020B0604020202020204" pitchFamily="34" charset="0"/>
                        </a:rPr>
                        <a:t>diện</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ứng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10000"/>
                  </a:ext>
                </a:extLst>
              </a:tr>
              <a:tr h="5811342">
                <a:tc>
                  <a: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89" name="Table 88"/>
          <p:cNvGraphicFramePr>
            <a:graphicFrameLocks noGrp="1"/>
          </p:cNvGraphicFramePr>
          <p:nvPr/>
        </p:nvGraphicFramePr>
        <p:xfrm>
          <a:off x="4027951" y="6619313"/>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20000"/>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a:solidFill>
                            <a:schemeClr val="bg1"/>
                          </a:solidFill>
                          <a:latin typeface="Arial" panose="020B0604020202020204" pitchFamily="34" charset="0"/>
                          <a:cs typeface="Arial" panose="020B0604020202020204" pitchFamily="34" charset="0"/>
                        </a:rPr>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10000"/>
                  </a:ext>
                </a:extLst>
              </a:tr>
              <a:tr h="11823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90" name="Table 89"/>
          <p:cNvGraphicFramePr>
            <a:graphicFrameLocks noGrp="1"/>
          </p:cNvGraphicFramePr>
          <p:nvPr>
            <p:extLst>
              <p:ext uri="{D42A27DB-BD31-4B8C-83A1-F6EECF244321}">
                <p14:modId xmlns:p14="http://schemas.microsoft.com/office/powerpoint/2010/main" val="3582755092"/>
              </p:ext>
            </p:extLst>
          </p:nvPr>
        </p:nvGraphicFramePr>
        <p:xfrm>
          <a:off x="4027950" y="8068432"/>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20000"/>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a:solidFill>
                            <a:schemeClr val="bg1"/>
                          </a:solidFill>
                          <a:latin typeface="Arial" panose="020B0604020202020204" pitchFamily="34" charset="0"/>
                          <a:cs typeface="Arial" panose="020B0604020202020204" pitchFamily="34" charset="0"/>
                        </a:rPr>
                        <a:t>Hướng phát triển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10000"/>
                  </a:ext>
                </a:extLst>
              </a:tr>
              <a:tr h="1182341">
                <a:tc>
                  <a:txBody>
                    <a:bodyPr/>
                    <a:lstStyle/>
                    <a:p>
                      <a:pPr marL="171450" lvl="0" indent="-171450">
                        <a:buFont typeface="Arial" panose="020B0604020202020204" pitchFamily="34" charset="0"/>
                        <a:buChar char="•"/>
                      </a:pPr>
                      <a:r>
                        <a:rPr lang="vi-VN" sz="1000" kern="1200" dirty="0">
                          <a:solidFill>
                            <a:schemeClr val="dk1"/>
                          </a:solidFill>
                          <a:effectLst/>
                          <a:latin typeface="Times New Roman" panose="02020603050405020304" pitchFamily="18" charset="0"/>
                          <a:ea typeface="+mn-ea"/>
                          <a:cs typeface="Times New Roman" panose="02020603050405020304" pitchFamily="18" charset="0"/>
                        </a:rPr>
                        <a:t>Phân tích camera trực tiếp theo thời gian thực.</a:t>
                      </a:r>
                      <a:endParaRPr lang="en-US" sz="1000" kern="1200" dirty="0">
                        <a:solidFill>
                          <a:schemeClr val="dk1"/>
                        </a:solidFill>
                        <a:effectLst/>
                        <a:latin typeface="Times New Roman" panose="02020603050405020304" pitchFamily="18" charset="0"/>
                        <a:ea typeface="+mn-ea"/>
                        <a:cs typeface="Times New Roman" panose="02020603050405020304" pitchFamily="18" charset="0"/>
                      </a:endParaRPr>
                    </a:p>
                    <a:p>
                      <a:pPr marL="171450" lvl="0" indent="-171450">
                        <a:buFont typeface="Arial" panose="020B0604020202020204" pitchFamily="34" charset="0"/>
                        <a:buChar char="•"/>
                      </a:pPr>
                      <a:r>
                        <a:rPr lang="vi-VN" sz="1000" kern="1200" dirty="0">
                          <a:solidFill>
                            <a:schemeClr val="dk1"/>
                          </a:solidFill>
                          <a:effectLst/>
                          <a:latin typeface="Times New Roman" panose="02020603050405020304" pitchFamily="18" charset="0"/>
                          <a:ea typeface="+mn-ea"/>
                          <a:cs typeface="Times New Roman" panose="02020603050405020304" pitchFamily="18" charset="0"/>
                        </a:rPr>
                        <a:t>Nâng cao độ chính xác nhận diện hành vi.</a:t>
                      </a:r>
                      <a:endParaRPr lang="en-US" sz="1000" kern="1200" dirty="0">
                        <a:solidFill>
                          <a:schemeClr val="dk1"/>
                        </a:solidFill>
                        <a:effectLst/>
                        <a:latin typeface="Times New Roman" panose="02020603050405020304" pitchFamily="18" charset="0"/>
                        <a:ea typeface="+mn-ea"/>
                        <a:cs typeface="Times New Roman" panose="02020603050405020304" pitchFamily="18" charset="0"/>
                      </a:endParaRPr>
                    </a:p>
                    <a:p>
                      <a:pPr marL="171450" lvl="0" indent="-171450">
                        <a:buFont typeface="Arial" panose="020B0604020202020204" pitchFamily="34" charset="0"/>
                        <a:buChar char="•"/>
                      </a:pPr>
                      <a:r>
                        <a:rPr lang="vi-VN" sz="1000" kern="1200" dirty="0">
                          <a:solidFill>
                            <a:schemeClr val="dk1"/>
                          </a:solidFill>
                          <a:effectLst/>
                          <a:latin typeface="Times New Roman" panose="02020603050405020304" pitchFamily="18" charset="0"/>
                          <a:ea typeface="+mn-ea"/>
                          <a:cs typeface="Times New Roman" panose="02020603050405020304" pitchFamily="18" charset="0"/>
                        </a:rPr>
                        <a:t>Lưu bằng chứng lên IPFS và Blockchain.</a:t>
                      </a:r>
                      <a:endParaRPr lang="en-US" sz="1000" kern="1200" dirty="0">
                        <a:solidFill>
                          <a:schemeClr val="dk1"/>
                        </a:solidFill>
                        <a:effectLst/>
                        <a:latin typeface="Times New Roman" panose="02020603050405020304" pitchFamily="18" charset="0"/>
                        <a:ea typeface="+mn-ea"/>
                        <a:cs typeface="Times New Roman" panose="02020603050405020304" pitchFamily="18" charset="0"/>
                      </a:endParaRPr>
                    </a:p>
                    <a:p>
                      <a:pPr marL="171450" lvl="0" indent="-171450">
                        <a:buFont typeface="Arial" panose="020B0604020202020204" pitchFamily="34" charset="0"/>
                        <a:buChar char="•"/>
                      </a:pPr>
                      <a:r>
                        <a:rPr lang="vi-VN" sz="1000" kern="1200" dirty="0">
                          <a:solidFill>
                            <a:schemeClr val="dk1"/>
                          </a:solidFill>
                          <a:effectLst/>
                          <a:latin typeface="Times New Roman" panose="02020603050405020304" pitchFamily="18" charset="0"/>
                          <a:ea typeface="+mn-ea"/>
                          <a:cs typeface="Times New Roman" panose="02020603050405020304" pitchFamily="18" charset="0"/>
                        </a:rPr>
                        <a:t>Thêm cảnh báo qua email, Telegram hoặc app.</a:t>
                      </a:r>
                      <a:endParaRPr lang="en-US" sz="110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92" name="TextBox 91"/>
          <p:cNvSpPr txBox="1"/>
          <p:nvPr/>
        </p:nvSpPr>
        <p:spPr>
          <a:xfrm>
            <a:off x="3943438" y="9586860"/>
            <a:ext cx="2958439" cy="215444"/>
          </a:xfrm>
          <a:prstGeom prst="rect">
            <a:avLst/>
          </a:prstGeom>
          <a:noFill/>
        </p:spPr>
        <p:txBody>
          <a:bodyPr wrap="square">
            <a:spAutoFit/>
          </a:bodyPr>
          <a:lstStyle/>
          <a:p>
            <a:pPr algn="ctr"/>
            <a:r>
              <a:rPr lang="en-US" sz="750" dirty="0">
                <a:latin typeface="Arial" panose="020B0604020202020204" pitchFamily="34" charset="0"/>
                <a:cs typeface="Arial Hebrew Scholar"/>
              </a:rPr>
              <a:t>©</a:t>
            </a:r>
            <a:r>
              <a:rPr lang="en-US" sz="750" dirty="0" err="1">
                <a:latin typeface="Arial" panose="020B0604020202020204" pitchFamily="34" charset="0"/>
                <a:cs typeface="Arial Hebrew Scholar"/>
              </a:rPr>
              <a:t>AIoTLab</a:t>
            </a:r>
            <a:r>
              <a:rPr lang="en-US" sz="750" dirty="0">
                <a:latin typeface="Arial" panose="020B0604020202020204" pitchFamily="34" charset="0"/>
                <a:cs typeface="Arial Hebrew Scholar"/>
              </a:rPr>
              <a:t>, Faculty of Information Technology, </a:t>
            </a:r>
            <a:r>
              <a:rPr lang="en-US" sz="750" dirty="0" err="1">
                <a:latin typeface="Arial" panose="020B0604020202020204" pitchFamily="34" charset="0"/>
                <a:cs typeface="Arial Hebrew Scholar"/>
              </a:rPr>
              <a:t>DaiNam</a:t>
            </a:r>
            <a:r>
              <a:rPr lang="en-US" sz="750" dirty="0">
                <a:latin typeface="Arial" panose="020B0604020202020204" pitchFamily="34" charset="0"/>
                <a:cs typeface="Arial Hebrew Scholar"/>
              </a:rPr>
              <a:t> University</a:t>
            </a:r>
          </a:p>
        </p:txBody>
      </p:sp>
      <p:grpSp>
        <p:nvGrpSpPr>
          <p:cNvPr id="1024" name="Group 1023"/>
          <p:cNvGrpSpPr/>
          <p:nvPr/>
        </p:nvGrpSpPr>
        <p:grpSpPr>
          <a:xfrm>
            <a:off x="4535229" y="7599157"/>
            <a:ext cx="683266" cy="362763"/>
            <a:chOff x="6071533" y="2197843"/>
            <a:chExt cx="683266" cy="367061"/>
          </a:xfrm>
        </p:grpSpPr>
        <p:sp>
          <p:nvSpPr>
            <p:cNvPr id="1025" name="TextBox 1024"/>
            <p:cNvSpPr txBox="1"/>
            <p:nvPr/>
          </p:nvSpPr>
          <p:spPr>
            <a:xfrm>
              <a:off x="6105590" y="2222338"/>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Platform</a:t>
              </a:r>
              <a:endParaRPr lang="en-US" sz="800" b="1" dirty="0">
                <a:latin typeface="Arial Hebrew Scholar" pitchFamily="2" charset="-79"/>
                <a:cs typeface="Arial Hebrew Scholar" pitchFamily="2" charset="-79"/>
              </a:endParaRPr>
            </a:p>
          </p:txBody>
        </p:sp>
        <p:pic>
          <p:nvPicPr>
            <p:cNvPr id="1026" name="Picture 4" descr="Github Logo - Free social media ic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5" name="Group 1034"/>
          <p:cNvGrpSpPr/>
          <p:nvPr/>
        </p:nvGrpSpPr>
        <p:grpSpPr>
          <a:xfrm>
            <a:off x="5679061" y="6914401"/>
            <a:ext cx="725093" cy="1027194"/>
            <a:chOff x="5729861" y="6934721"/>
            <a:chExt cx="725093" cy="1027194"/>
          </a:xfrm>
        </p:grpSpPr>
        <p:pic>
          <p:nvPicPr>
            <p:cNvPr id="1029" name="Picture 1028"/>
            <p:cNvPicPr>
              <a:picLocks noChangeAspect="1"/>
            </p:cNvPicPr>
            <p:nvPr/>
          </p:nvPicPr>
          <p:blipFill>
            <a:blip r:embed="rId5"/>
            <a:stretch>
              <a:fillRect/>
            </a:stretch>
          </p:blipFill>
          <p:spPr>
            <a:xfrm>
              <a:off x="5729861" y="6934721"/>
              <a:ext cx="658860" cy="648000"/>
            </a:xfrm>
            <a:prstGeom prst="rect">
              <a:avLst/>
            </a:prstGeom>
          </p:spPr>
        </p:pic>
        <p:grpSp>
          <p:nvGrpSpPr>
            <p:cNvPr id="1031" name="Group 1030"/>
            <p:cNvGrpSpPr/>
            <p:nvPr/>
          </p:nvGrpSpPr>
          <p:grpSpPr>
            <a:xfrm>
              <a:off x="5771688" y="7623361"/>
              <a:ext cx="683266" cy="338554"/>
              <a:chOff x="6071533" y="2191497"/>
              <a:chExt cx="683266" cy="342566"/>
            </a:xfrm>
          </p:grpSpPr>
          <p:sp>
            <p:nvSpPr>
              <p:cNvPr id="1032" name="TextBox 1031"/>
              <p:cNvSpPr txBox="1"/>
              <p:nvPr/>
            </p:nvSpPr>
            <p:spPr>
              <a:xfrm>
                <a:off x="6105590" y="2191497"/>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FIT-DNU</a:t>
                </a:r>
                <a:endParaRPr lang="en-US" sz="800" b="1" dirty="0">
                  <a:latin typeface="Arial Hebrew Scholar" pitchFamily="2" charset="-79"/>
                  <a:cs typeface="Arial Hebrew Scholar" pitchFamily="2" charset="-79"/>
                </a:endParaRPr>
              </a:p>
            </p:txBody>
          </p:sp>
          <p:pic>
            <p:nvPicPr>
              <p:cNvPr id="1033" name="Picture 4" descr="Github Logo - Free social media ic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41373" y="4993124"/>
            <a:ext cx="1023928" cy="615273"/>
          </a:xfrm>
          <a:prstGeom prst="rect">
            <a:avLst/>
          </a:prstGeom>
        </p:spPr>
      </p:pic>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159867" y="5623340"/>
            <a:ext cx="805994" cy="922099"/>
          </a:xfrm>
          <a:prstGeom prst="rect">
            <a:avLst/>
          </a:prstGeom>
        </p:spPr>
      </p:pic>
      <p:pic>
        <p:nvPicPr>
          <p:cNvPr id="11" name="Picture 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57947" y="5020173"/>
            <a:ext cx="1154810" cy="577405"/>
          </a:xfrm>
          <a:prstGeom prst="rect">
            <a:avLst/>
          </a:prstGeom>
        </p:spPr>
      </p:pic>
      <p:pic>
        <p:nvPicPr>
          <p:cNvPr id="13" name="Picture 12">
            <a:extLst>
              <a:ext uri="{FF2B5EF4-FFF2-40B4-BE49-F238E27FC236}">
                <a16:creationId xmlns:a16="http://schemas.microsoft.com/office/drawing/2014/main" id="{9A3793CC-8BDA-CC70-7A34-6845B05E2EF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43859" y="4028693"/>
            <a:ext cx="3598433" cy="1723761"/>
          </a:xfrm>
          <a:prstGeom prst="rect">
            <a:avLst/>
          </a:prstGeom>
        </p:spPr>
      </p:pic>
      <p:pic>
        <p:nvPicPr>
          <p:cNvPr id="16" name="Picture 15">
            <a:extLst>
              <a:ext uri="{FF2B5EF4-FFF2-40B4-BE49-F238E27FC236}">
                <a16:creationId xmlns:a16="http://schemas.microsoft.com/office/drawing/2014/main" id="{DC91A8A9-6B79-CDDD-E2AA-F429E44AB22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43858" y="5786743"/>
            <a:ext cx="3598433" cy="1976987"/>
          </a:xfrm>
          <a:prstGeom prst="rect">
            <a:avLst/>
          </a:prstGeom>
        </p:spPr>
      </p:pic>
      <p:pic>
        <p:nvPicPr>
          <p:cNvPr id="18" name="Picture 17">
            <a:extLst>
              <a:ext uri="{FF2B5EF4-FFF2-40B4-BE49-F238E27FC236}">
                <a16:creationId xmlns:a16="http://schemas.microsoft.com/office/drawing/2014/main" id="{0A97DC8B-786B-4BB0-8839-A209C5D7178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43857" y="7891126"/>
            <a:ext cx="3598433" cy="1816753"/>
          </a:xfrm>
          <a:prstGeom prst="rect">
            <a:avLst/>
          </a:prstGeom>
        </p:spPr>
      </p:pic>
      <p:pic>
        <p:nvPicPr>
          <p:cNvPr id="20" name="Picture 19">
            <a:extLst>
              <a:ext uri="{FF2B5EF4-FFF2-40B4-BE49-F238E27FC236}">
                <a16:creationId xmlns:a16="http://schemas.microsoft.com/office/drawing/2014/main" id="{5294BC3A-39EF-967D-FF4C-1AA68039799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027950" y="2592418"/>
            <a:ext cx="2758071" cy="2088525"/>
          </a:xfrm>
          <a:prstGeom prst="rect">
            <a:avLst/>
          </a:prstGeom>
        </p:spPr>
      </p:pic>
      <p:pic>
        <p:nvPicPr>
          <p:cNvPr id="22" name="Picture 21">
            <a:extLst>
              <a:ext uri="{FF2B5EF4-FFF2-40B4-BE49-F238E27FC236}">
                <a16:creationId xmlns:a16="http://schemas.microsoft.com/office/drawing/2014/main" id="{32E3678F-ED6B-B5BE-8EF8-353CBA9AD3C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157947" y="5684995"/>
            <a:ext cx="1265921" cy="708916"/>
          </a:xfrm>
          <a:prstGeom prst="rect">
            <a:avLst/>
          </a:prstGeom>
        </p:spPr>
      </p:pic>
      <p:pic>
        <p:nvPicPr>
          <p:cNvPr id="24" name="Picture 23">
            <a:extLst>
              <a:ext uri="{FF2B5EF4-FFF2-40B4-BE49-F238E27FC236}">
                <a16:creationId xmlns:a16="http://schemas.microsoft.com/office/drawing/2014/main" id="{87F8B06A-C301-91CD-9075-F0164CD9313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49886" y="6913796"/>
            <a:ext cx="649209" cy="649209"/>
          </a:xfrm>
          <a:prstGeom prst="rect">
            <a:avLst/>
          </a:prstGeom>
        </p:spPr>
      </p:pic>
      <p:pic>
        <p:nvPicPr>
          <p:cNvPr id="25" name="Picture 24">
            <a:extLst>
              <a:ext uri="{FF2B5EF4-FFF2-40B4-BE49-F238E27FC236}">
                <a16:creationId xmlns:a16="http://schemas.microsoft.com/office/drawing/2014/main" id="{DC5F72EB-6340-2744-A93A-491213CBF53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008491" y="1329485"/>
            <a:ext cx="649209" cy="64920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135</TotalTime>
  <Words>179</Words>
  <Application>Microsoft Office PowerPoint</Application>
  <PresentationFormat>A4 Paper (210x297 mm)</PresentationFormat>
  <Paragraphs>19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Hebrew Scholar</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Nguyễn Thanh Tuấn</cp:lastModifiedBy>
  <cp:revision>110</cp:revision>
  <dcterms:created xsi:type="dcterms:W3CDTF">2023-07-02T07:57:00Z</dcterms:created>
  <dcterms:modified xsi:type="dcterms:W3CDTF">2026-06-04T08:03:39Z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B91172CD5B7040CBA2FB15A1BC72CE71_13</vt:lpwstr>
  </property>
  <property fmtid="{D5CDD505-2E9C-101B-9397-08002B2CF9AE}" pid="3" name="KSOProductBuildVer">
    <vt:lpwstr>1033-12.1.0.25180</vt:lpwstr>
  </property>
</Properties>
</file>